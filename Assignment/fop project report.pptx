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3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4" r:id="rId18"/>
    <p:sldId id="275" r:id="rId19"/>
    <p:sldId id="276" r:id="rId20"/>
    <p:sldId id="277" r:id="rId21"/>
    <p:sldId id="271" r:id="rId22"/>
    <p:sldId id="27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98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7ED07-49F9-CFF1-5E8E-D9BA4A8A2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27E1AF-D432-28EB-92E0-8E638FD43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A12B5-A244-34DC-CE94-7EC5B46DD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AD3BF-25C5-44DF-B53C-F87A3A2868FB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B2A28-FA1D-27C3-E2C7-CD1BF8A07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82BDE-AD53-56ED-E749-52432EEF8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493D2-98EE-4D12-86EF-BB3AA9EFB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83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8286F-E2C3-144D-41BC-5294ABFFF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622E6-044C-4014-0233-D72B6808D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43C58-425D-A8DD-4AFA-9A1D17121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AD3BF-25C5-44DF-B53C-F87A3A2868FB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D040F-6D15-3AE4-BB39-2A321EAF0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41B76-ECF1-6A40-91C1-13A273DC5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493D2-98EE-4D12-86EF-BB3AA9EFB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0933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A3864-500F-6044-B4F1-79DEEDA4A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A177C4-A860-E0CB-46B7-54E73CCE8E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CE350-A7BC-4BCA-A31F-4A025199E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AD3BF-25C5-44DF-B53C-F87A3A2868FB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B7624-6C7F-C7D9-7645-C616B351B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6B925-E602-9229-7445-7CD772E5E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493D2-98EE-4D12-86EF-BB3AA9EFB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719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A7AEB-4375-3D19-3359-FA69BED73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5F2BA-4A36-AED6-053A-E80F92E0C0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49B293-067C-03CB-CD7B-BAE8EBED2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0CF596-86A5-017A-70AB-41E7788E9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AD3BF-25C5-44DF-B53C-F87A3A2868FB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2F906-3764-EC0E-2701-4F888D972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9701EC-3574-A3AD-DA88-4754102D0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493D2-98EE-4D12-86EF-BB3AA9EFB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855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F47E6-78F8-77C6-8841-BD335DA01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7E76E-807A-A663-6EC3-948047571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9D9FA0-378B-04F6-B3BE-EE766AC286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0129D7-4FF4-FFBA-00AD-8400192A23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843399-1971-B5C5-CAF1-115D814ED8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B10524-ACC5-AC2E-7617-93B7CDDC3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AD3BF-25C5-44DF-B53C-F87A3A2868FB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661BEB-31B2-2D59-A013-9B11F0A55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9F81C8-E256-57F7-E023-BEED9759B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493D2-98EE-4D12-86EF-BB3AA9EFB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80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4B038-C2B7-3590-B34D-5C29ECAF0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D0B42D-8AE5-FBA2-F4DA-1B6468D2B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AD3BF-25C5-44DF-B53C-F87A3A2868FB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2D52A4-C5BE-ADC6-93D6-B07E1FDD4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51CAAB-A21E-C6D0-268C-E5C693DEF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493D2-98EE-4D12-86EF-BB3AA9EFB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883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B542E5-615B-4A31-D5EB-82F5E6549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AD3BF-25C5-44DF-B53C-F87A3A2868FB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9AAAF1-25F8-CEC1-604D-55DE7CF4F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FD27AD-BC2A-2CC5-A1C6-0ED01251B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493D2-98EE-4D12-86EF-BB3AA9EFB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4490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AE17C-082C-C4B5-C0AC-F87916733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C6397-9AB6-757E-C888-FF46BCACD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D428ED-9948-9B42-E58C-C370695B8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0A1DB8-6C91-C226-A1F8-4C878626A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AD3BF-25C5-44DF-B53C-F87A3A2868FB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C3A051-4BC6-0D6E-5764-2EDB62370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2CF90B-0A3A-A853-26D3-11AEA6CD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493D2-98EE-4D12-86EF-BB3AA9EFB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4955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5F318-731A-F6EC-078D-9B1AC96F7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8C8AF1-F2AB-603A-5BE1-319972C97C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FF9EC9-77B6-91D4-E05E-530C2260CC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DFD703-37CB-8A1A-17C4-DD26B8B00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AD3BF-25C5-44DF-B53C-F87A3A2868FB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C30651-0969-EA96-94EA-B6A59C293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878106-4D98-4DC4-C9F1-C0C5DB646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493D2-98EE-4D12-86EF-BB3AA9EFB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7662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CE729-4A97-EF07-6B21-23E2B5586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E0A564-2FC6-D6D9-AFB4-542A05FF92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B2C54-C3C8-F8EF-8FBA-CD4178F24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AD3BF-25C5-44DF-B53C-F87A3A2868FB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073CE-A89B-AF4E-A0BE-ED4CC91DD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BA6F8-B9D5-C6FC-1645-3C6E29126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493D2-98EE-4D12-86EF-BB3AA9EFB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228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D523E0-8824-F495-930A-BE49168D4F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A5353F-2019-1FBB-D631-4A8B1E2A0F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15720-471A-9B2A-EF6A-31228F1A2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AD3BF-25C5-44DF-B53C-F87A3A2868FB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84090-6058-209B-AD76-F88364A1B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BBE0F-F033-C695-9230-A6F714B2B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493D2-98EE-4D12-86EF-BB3AA9EFB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710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218E3C-F10A-E3C9-4D89-96D6920DD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32678F-48A8-9D53-6FB7-AD1E0C4F6B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24AD78-24DE-9153-F657-8A7508E3BE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CAD3BF-25C5-44DF-B53C-F87A3A2868FB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CCE8B-A850-9E3F-05F6-1079838B97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B8A62-B544-F6E5-8C65-A48BFB5CA9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4493D2-98EE-4D12-86EF-BB3AA9EFB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855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A7E417A-2696-A141-3207-23D71B2C468C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704720" y="462338"/>
            <a:ext cx="8782560" cy="203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7C9EFD-5169-63C6-DE6B-51E812CCB66C}"/>
              </a:ext>
            </a:extLst>
          </p:cNvPr>
          <p:cNvSpPr txBox="1"/>
          <p:nvPr/>
        </p:nvSpPr>
        <p:spPr>
          <a:xfrm>
            <a:off x="349322" y="3111173"/>
            <a:ext cx="944195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u="none" strike="noStrike" dirty="0">
                <a:solidFill>
                  <a:srgbClr val="000000"/>
                </a:solidFill>
                <a:effectLst/>
                <a:uFillTx/>
                <a:latin typeface="Lato Heavy"/>
                <a:ea typeface="Noto Sans CJK SC"/>
              </a:rPr>
              <a:t>                  Mini Project Report</a:t>
            </a:r>
            <a:br>
              <a:rPr lang="en-US" sz="4000" dirty="0"/>
            </a:br>
            <a:r>
              <a:rPr lang="en-US" sz="4000" dirty="0"/>
              <a:t>                       </a:t>
            </a:r>
            <a:r>
              <a:rPr lang="en-US" sz="4000" b="1" u="none" strike="noStrike" dirty="0">
                <a:solidFill>
                  <a:srgbClr val="000000"/>
                </a:solidFill>
                <a:effectLst/>
                <a:uFillTx/>
                <a:latin typeface="Lato Heavy"/>
                <a:ea typeface="Noto Sans CJK SC"/>
              </a:rPr>
              <a:t>On</a:t>
            </a:r>
          </a:p>
          <a:p>
            <a:pPr algn="ctr"/>
            <a:r>
              <a:rPr lang="en-IN" sz="4000" b="1" dirty="0">
                <a:latin typeface="Lato Heavy"/>
              </a:rPr>
              <a:t>                  Banking Simulation System</a:t>
            </a:r>
            <a:endParaRPr lang="en-US" sz="4000" b="1" u="none" strike="noStrike" dirty="0">
              <a:solidFill>
                <a:srgbClr val="000000"/>
              </a:solidFill>
              <a:effectLst/>
              <a:uFillTx/>
              <a:latin typeface="Lato Heavy"/>
              <a:ea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2478904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A2145-D7B9-4E9F-170E-CBC3AB891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007" y="904126"/>
            <a:ext cx="10515600" cy="5262563"/>
          </a:xfrm>
        </p:spPr>
        <p:txBody>
          <a:bodyPr/>
          <a:lstStyle/>
          <a:p>
            <a:pPr marL="0" indent="0">
              <a:buNone/>
            </a:pPr>
            <a:r>
              <a:rPr lang="en-US" u="sng" dirty="0">
                <a:latin typeface="+mj-lt"/>
                <a:cs typeface="Arial" panose="020B0604020202020204" pitchFamily="34" charset="0"/>
              </a:rPr>
              <a:t>Submitted By:</a:t>
            </a:r>
          </a:p>
          <a:p>
            <a:pPr marL="0" indent="0">
              <a:buNone/>
            </a:pPr>
            <a:endParaRPr lang="en-US" u="sng" dirty="0">
              <a:latin typeface="+mj-lt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u="sng" dirty="0">
              <a:latin typeface="+mj-lt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u="sng" dirty="0">
              <a:latin typeface="+mj-lt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u="sng" dirty="0">
              <a:latin typeface="+mj-lt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u="sng" dirty="0">
              <a:latin typeface="+mj-lt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u="sng" dirty="0">
              <a:latin typeface="+mj-lt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dirty="0">
                <a:latin typeface="+mj-lt"/>
                <a:cs typeface="Arial" panose="020B0604020202020204" pitchFamily="34" charset="0"/>
              </a:rPr>
              <a:t>Under the guidance of :</a:t>
            </a:r>
          </a:p>
          <a:p>
            <a:pPr marL="0" indent="0">
              <a:buNone/>
            </a:pPr>
            <a:r>
              <a:rPr lang="en-IN" b="1" dirty="0">
                <a:latin typeface="+mj-lt"/>
                <a:cs typeface="Arial" panose="020B0604020202020204" pitchFamily="34" charset="0"/>
              </a:rPr>
              <a:t>Prof. Uma </a:t>
            </a:r>
            <a:r>
              <a:rPr lang="en-IN" b="1" dirty="0" err="1">
                <a:latin typeface="+mj-lt"/>
                <a:cs typeface="Arial" panose="020B0604020202020204" pitchFamily="34" charset="0"/>
              </a:rPr>
              <a:t>Pujeri</a:t>
            </a:r>
            <a:r>
              <a:rPr lang="en-IN" b="1" dirty="0">
                <a:latin typeface="+mj-lt"/>
                <a:cs typeface="Arial" panose="020B0604020202020204" pitchFamily="34" charset="0"/>
              </a:rPr>
              <a:t> ma’am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94341CA-39C5-3DF4-E8D3-A8A22DD4D2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1701913"/>
              </p:ext>
            </p:extLst>
          </p:nvPr>
        </p:nvGraphicFramePr>
        <p:xfrm>
          <a:off x="838199" y="1623317"/>
          <a:ext cx="10515600" cy="25603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92200460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743949724"/>
                    </a:ext>
                  </a:extLst>
                </a:gridCol>
              </a:tblGrid>
              <a:tr h="176106"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  <a:latin typeface="+mn-lt"/>
                        </a:rPr>
                        <a:t> NAME </a:t>
                      </a:r>
                      <a:endParaRPr lang="en-IN" sz="3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PRN</a:t>
                      </a:r>
                      <a:endParaRPr lang="en-IN" sz="3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8415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Shivam Ramesh </a:t>
                      </a:r>
                      <a:r>
                        <a:rPr lang="en-US" sz="2000" dirty="0" err="1"/>
                        <a:t>Lamkhade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1262252900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6330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Jaideep </a:t>
                      </a:r>
                      <a:r>
                        <a:rPr lang="en-US" sz="2000" dirty="0" err="1"/>
                        <a:t>Kalekudhiti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1262253233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5715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Arun Mishra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1262251280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9107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Shubham Kumar Himanshu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1262253979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1590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Sujal </a:t>
                      </a:r>
                      <a:r>
                        <a:rPr lang="en-US" sz="2000" dirty="0" err="1"/>
                        <a:t>Shriramjwar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1262253844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7010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5063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69A77-FDCF-2F6A-6122-177BA5FD8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+mn-lt"/>
              </a:rPr>
              <a:t>Table Of Contents</a:t>
            </a:r>
            <a:endParaRPr lang="en-IN" b="1" dirty="0">
              <a:latin typeface="+mn-lt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AEC7995-9EE0-539B-DB58-FF4BDD9B3A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7309963"/>
              </p:ext>
            </p:extLst>
          </p:nvPr>
        </p:nvGraphicFramePr>
        <p:xfrm>
          <a:off x="838200" y="1825624"/>
          <a:ext cx="10515597" cy="4593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93541346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89231273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555290778"/>
                    </a:ext>
                  </a:extLst>
                </a:gridCol>
              </a:tblGrid>
              <a:tr h="671646">
                <a:tc>
                  <a:txBody>
                    <a:bodyPr/>
                    <a:lstStyle/>
                    <a:p>
                      <a:r>
                        <a:rPr lang="en-US" sz="2800" b="1" dirty="0"/>
                        <a:t>Sr. No.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Title</a:t>
                      </a:r>
                      <a:endParaRPr lang="en-IN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Page No.</a:t>
                      </a:r>
                      <a:endParaRPr lang="en-IN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471792"/>
                  </a:ext>
                </a:extLst>
              </a:tr>
              <a:tr h="633465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n-lt"/>
                        </a:rPr>
                        <a:t>1.</a:t>
                      </a:r>
                      <a:endParaRPr lang="en-IN" sz="20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Abstract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6174968"/>
                  </a:ext>
                </a:extLst>
              </a:tr>
              <a:tr h="633465">
                <a:tc>
                  <a:txBody>
                    <a:bodyPr/>
                    <a:lstStyle/>
                    <a:p>
                      <a:r>
                        <a:rPr lang="en-US" sz="2000" dirty="0"/>
                        <a:t>2.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Introduction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706224"/>
                  </a:ext>
                </a:extLst>
              </a:tr>
              <a:tr h="633465">
                <a:tc>
                  <a:txBody>
                    <a:bodyPr/>
                    <a:lstStyle/>
                    <a:p>
                      <a:r>
                        <a:rPr lang="en-US" sz="2000" dirty="0"/>
                        <a:t>3.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Problem Statement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988338"/>
                  </a:ext>
                </a:extLst>
              </a:tr>
              <a:tr h="633465">
                <a:tc>
                  <a:txBody>
                    <a:bodyPr/>
                    <a:lstStyle/>
                    <a:p>
                      <a:r>
                        <a:rPr lang="en-US" sz="2000" dirty="0"/>
                        <a:t>4.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Objectives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698252"/>
                  </a:ext>
                </a:extLst>
              </a:tr>
              <a:tr h="633465">
                <a:tc>
                  <a:txBody>
                    <a:bodyPr/>
                    <a:lstStyle/>
                    <a:p>
                      <a:r>
                        <a:rPr lang="en-US" sz="2000" dirty="0"/>
                        <a:t>5.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Technologies Used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0562341"/>
                  </a:ext>
                </a:extLst>
              </a:tr>
              <a:tr h="633465">
                <a:tc>
                  <a:txBody>
                    <a:bodyPr/>
                    <a:lstStyle/>
                    <a:p>
                      <a:r>
                        <a:rPr lang="en-US" sz="2000" dirty="0"/>
                        <a:t>6.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System Design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912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4570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6EFAC43-28D6-97A6-5B3E-D3C93FE08F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020469"/>
              </p:ext>
            </p:extLst>
          </p:nvPr>
        </p:nvGraphicFramePr>
        <p:xfrm>
          <a:off x="780836" y="750488"/>
          <a:ext cx="10479641" cy="571195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328827">
                  <a:extLst>
                    <a:ext uri="{9D8B030D-6E8A-4147-A177-3AD203B41FA5}">
                      <a16:colId xmlns:a16="http://schemas.microsoft.com/office/drawing/2014/main" val="3539789583"/>
                    </a:ext>
                  </a:extLst>
                </a:gridCol>
                <a:gridCol w="3914454">
                  <a:extLst>
                    <a:ext uri="{9D8B030D-6E8A-4147-A177-3AD203B41FA5}">
                      <a16:colId xmlns:a16="http://schemas.microsoft.com/office/drawing/2014/main" val="3805221837"/>
                    </a:ext>
                  </a:extLst>
                </a:gridCol>
                <a:gridCol w="3236360">
                  <a:extLst>
                    <a:ext uri="{9D8B030D-6E8A-4147-A177-3AD203B41FA5}">
                      <a16:colId xmlns:a16="http://schemas.microsoft.com/office/drawing/2014/main" val="1929997685"/>
                    </a:ext>
                  </a:extLst>
                </a:gridCol>
              </a:tblGrid>
              <a:tr h="815994">
                <a:tc>
                  <a:txBody>
                    <a:bodyPr/>
                    <a:lstStyle/>
                    <a:p>
                      <a:r>
                        <a:rPr lang="en-US" sz="2000" dirty="0"/>
                        <a:t>7.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Key Features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1481364"/>
                  </a:ext>
                </a:extLst>
              </a:tr>
              <a:tr h="815994">
                <a:tc>
                  <a:txBody>
                    <a:bodyPr/>
                    <a:lstStyle/>
                    <a:p>
                      <a:r>
                        <a:rPr lang="en-US" sz="2000" dirty="0"/>
                        <a:t>8.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 Programing Concepts Used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13.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3277785"/>
                  </a:ext>
                </a:extLst>
              </a:tr>
              <a:tr h="815994">
                <a:tc>
                  <a:txBody>
                    <a:bodyPr/>
                    <a:lstStyle/>
                    <a:p>
                      <a:r>
                        <a:rPr lang="en-US" sz="2000" dirty="0"/>
                        <a:t>9.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Advantages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14.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4366160"/>
                  </a:ext>
                </a:extLst>
              </a:tr>
              <a:tr h="815994">
                <a:tc>
                  <a:txBody>
                    <a:bodyPr/>
                    <a:lstStyle/>
                    <a:p>
                      <a:r>
                        <a:rPr lang="en-US" sz="2000" dirty="0"/>
                        <a:t>10.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Limitations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15.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808773"/>
                  </a:ext>
                </a:extLst>
              </a:tr>
              <a:tr h="815994">
                <a:tc>
                  <a:txBody>
                    <a:bodyPr/>
                    <a:lstStyle/>
                    <a:p>
                      <a:r>
                        <a:rPr lang="en-US" sz="2000" dirty="0"/>
                        <a:t>11.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Future Enhancements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16.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138358"/>
                  </a:ext>
                </a:extLst>
              </a:tr>
              <a:tr h="815994">
                <a:tc>
                  <a:txBody>
                    <a:bodyPr/>
                    <a:lstStyle/>
                    <a:p>
                      <a:r>
                        <a:rPr lang="en-US" sz="2000" dirty="0"/>
                        <a:t>12.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Screenshots Of Output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17.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5873947"/>
                  </a:ext>
                </a:extLst>
              </a:tr>
              <a:tr h="815994">
                <a:tc>
                  <a:txBody>
                    <a:bodyPr/>
                    <a:lstStyle/>
                    <a:p>
                      <a:r>
                        <a:rPr lang="en-US" sz="2000" dirty="0"/>
                        <a:t>13.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Conclusions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21.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6449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7059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84FD9-B052-EC3C-D36E-D8E7BB18C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latin typeface="+mn-lt"/>
              </a:rPr>
              <a:t>Abstract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838CA-420C-4B5E-5C94-1FE4F09FA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project presents a </a:t>
            </a:r>
            <a:r>
              <a:rPr lang="en-US" b="1" dirty="0"/>
              <a:t>Banking Simulation System</a:t>
            </a:r>
            <a:r>
              <a:rPr lang="en-US" dirty="0"/>
              <a:t> developed using the C programming language. The system simulates real-world banking operations such as account creation, secure login, deposits, withdrawals, loan processing, mutual fund investments, and transaction history management. The application is menu-driven and designed using structured programming concepts. Basic PIN encryption using XOR technique ensures account security.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8017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32CDD-A4EF-DA1B-5482-31ABE42E2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+mn-lt"/>
              </a:rPr>
              <a:t>Introduction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D63D0-EE26-EFF7-D404-BC4D53089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The Banking Simulation System is a console-based application that mimics the working of a real banking environment. It allows users to create accounts, log in securely, and perform various banking operations through an interactive menu system.</a:t>
            </a:r>
          </a:p>
          <a:p>
            <a:r>
              <a:rPr lang="en-US" dirty="0"/>
              <a:t>The system also provides financial services such as loans and mutual fund investments, making it a complete simulation of core banking features.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0837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F4EB4-1683-5849-84BE-8BDF9B020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+mn-lt"/>
              </a:rPr>
              <a:t>Problem Statement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2F4B6-F467-2EB7-B81C-AC4FC9AE0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Manual banking systems are time-consuming and prone to errors. There is a need for a digital system that can:</a:t>
            </a:r>
          </a:p>
          <a:p>
            <a:r>
              <a:rPr lang="en-US" dirty="0"/>
              <a:t>  Manage multiple accounts</a:t>
            </a:r>
          </a:p>
          <a:p>
            <a:r>
              <a:rPr lang="en-US" dirty="0"/>
              <a:t>  Secure user credentials</a:t>
            </a:r>
          </a:p>
          <a:p>
            <a:r>
              <a:rPr lang="en-US" dirty="0"/>
              <a:t>  Track financial transactions</a:t>
            </a:r>
          </a:p>
          <a:p>
            <a:r>
              <a:rPr lang="en-US" dirty="0"/>
              <a:t>  Provide loan and investment services</a:t>
            </a:r>
          </a:p>
          <a:p>
            <a:r>
              <a:rPr lang="en-US" dirty="0"/>
              <a:t>  Allow administrative monitoring</a:t>
            </a:r>
          </a:p>
          <a:p>
            <a:pPr marL="0" indent="0">
              <a:buNone/>
            </a:pPr>
            <a:r>
              <a:rPr lang="en-US" dirty="0"/>
              <a:t>This project aims to simulate such a banking system using C programming.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5896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C811F-21E1-8BD2-8271-57EF2E4AA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+mn-lt"/>
              </a:rPr>
              <a:t>Objectives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34B89-4D60-2B77-4BC7-6007EFEFF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To simulate real-world banking operations</a:t>
            </a:r>
          </a:p>
          <a:p>
            <a:r>
              <a:rPr lang="en-US" dirty="0"/>
              <a:t>To implement secure PIN authentication</a:t>
            </a:r>
          </a:p>
          <a:p>
            <a:r>
              <a:rPr lang="en-US" dirty="0"/>
              <a:t>To manage deposits and withdrawals</a:t>
            </a:r>
          </a:p>
          <a:p>
            <a:r>
              <a:rPr lang="en-US" dirty="0"/>
              <a:t>To implement loan calculation and repayment</a:t>
            </a:r>
          </a:p>
          <a:p>
            <a:r>
              <a:rPr lang="en-US" dirty="0"/>
              <a:t>To provide mutual fund investment options</a:t>
            </a:r>
          </a:p>
          <a:p>
            <a:r>
              <a:rPr lang="en-US" dirty="0"/>
              <a:t>To maintain transaction history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9571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EC643-15E4-1EDD-8B2A-71C7B7C39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+mn-lt"/>
              </a:rPr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DCFD9-4544-9FD2-394D-385A45BBF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b="1" dirty="0"/>
          </a:p>
          <a:p>
            <a:endParaRPr lang="en-IN" b="1" dirty="0"/>
          </a:p>
          <a:p>
            <a:r>
              <a:rPr lang="en-IN" b="1" dirty="0"/>
              <a:t>Programming Language:</a:t>
            </a:r>
            <a:r>
              <a:rPr lang="en-IN" dirty="0"/>
              <a:t> C</a:t>
            </a:r>
          </a:p>
          <a:p>
            <a:r>
              <a:rPr lang="en-IN" b="1" dirty="0"/>
              <a:t>Libraries Used:</a:t>
            </a:r>
            <a:endParaRPr lang="en-IN" dirty="0"/>
          </a:p>
          <a:p>
            <a:pPr lvl="1"/>
            <a:r>
              <a:rPr lang="en-IN" dirty="0" err="1"/>
              <a:t>stdio.h</a:t>
            </a:r>
            <a:endParaRPr lang="en-IN" dirty="0"/>
          </a:p>
          <a:p>
            <a:pPr lvl="1"/>
            <a:r>
              <a:rPr lang="en-IN" dirty="0" err="1"/>
              <a:t>stdlib.h</a:t>
            </a:r>
            <a:endParaRPr lang="en-IN" dirty="0"/>
          </a:p>
          <a:p>
            <a:pPr lvl="1"/>
            <a:r>
              <a:rPr lang="en-IN" dirty="0" err="1"/>
              <a:t>string.h</a:t>
            </a:r>
            <a:endParaRPr lang="en-IN" dirty="0"/>
          </a:p>
          <a:p>
            <a:pPr lvl="1"/>
            <a:r>
              <a:rPr lang="en-IN" dirty="0" err="1"/>
              <a:t>windows.h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8728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88806-04F3-AD56-1616-A83DF36FD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+mn-lt"/>
              </a:rPr>
              <a:t>System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E35B3-9747-5E06-AC60-54403D238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512278"/>
          </a:xfrm>
        </p:spPr>
        <p:txBody>
          <a:bodyPr lIns="72000">
            <a:normAutofit/>
          </a:bodyPr>
          <a:lstStyle/>
          <a:p>
            <a:pPr marL="0" indent="0">
              <a:buNone/>
            </a:pPr>
            <a:r>
              <a:rPr lang="en-US" dirty="0"/>
              <a:t>The system uses a structure named Account to store:</a:t>
            </a:r>
          </a:p>
          <a:p>
            <a:r>
              <a:rPr lang="en-US" dirty="0"/>
              <a:t>Account number</a:t>
            </a:r>
          </a:p>
          <a:p>
            <a:r>
              <a:rPr lang="en-US" dirty="0"/>
              <a:t>Customer name</a:t>
            </a:r>
          </a:p>
          <a:p>
            <a:r>
              <a:rPr lang="en-US" dirty="0"/>
              <a:t>Encrypted PIN</a:t>
            </a:r>
          </a:p>
          <a:p>
            <a:r>
              <a:rPr lang="en-US" dirty="0"/>
              <a:t>Balance</a:t>
            </a:r>
          </a:p>
          <a:p>
            <a:r>
              <a:rPr lang="en-US" dirty="0"/>
              <a:t>Loan details</a:t>
            </a:r>
          </a:p>
          <a:p>
            <a:r>
              <a:rPr lang="en-US" dirty="0"/>
              <a:t>Mutual fund investment</a:t>
            </a:r>
          </a:p>
          <a:p>
            <a:r>
              <a:rPr lang="en-US" dirty="0"/>
              <a:t>Transaction history</a:t>
            </a:r>
          </a:p>
          <a:p>
            <a:pPr marL="0" indent="0">
              <a:buNone/>
            </a:pPr>
            <a:r>
              <a:rPr lang="en-US" dirty="0"/>
              <a:t>The program is modular and divided into multiple functions for better organization.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334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FDF6E-B0DC-7920-60A6-161543057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+mn-lt"/>
              </a:rPr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86124-2F0B-7034-7DFB-A8704278F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8065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1. Account Creation</a:t>
            </a:r>
          </a:p>
          <a:p>
            <a:r>
              <a:rPr lang="en-US" dirty="0"/>
              <a:t>Users can create a new account with account number, name, and PIN.</a:t>
            </a:r>
          </a:p>
          <a:p>
            <a:pPr marL="0" indent="0">
              <a:buNone/>
            </a:pPr>
            <a:r>
              <a:rPr lang="en-US" b="1" dirty="0"/>
              <a:t>2. Secure Login</a:t>
            </a:r>
          </a:p>
          <a:p>
            <a:r>
              <a:rPr lang="en-US" dirty="0"/>
              <a:t>PIN is encrypted using XOR operation for basic security.</a:t>
            </a:r>
          </a:p>
          <a:p>
            <a:pPr marL="0" indent="0">
              <a:buNone/>
            </a:pPr>
            <a:r>
              <a:rPr lang="en-US" b="1" dirty="0"/>
              <a:t>3. Deposit</a:t>
            </a:r>
          </a:p>
          <a:p>
            <a:r>
              <a:rPr lang="en-US" dirty="0"/>
              <a:t>Users can deposit money into their account.</a:t>
            </a:r>
          </a:p>
          <a:p>
            <a:pPr marL="0" indent="0">
              <a:buNone/>
            </a:pPr>
            <a:r>
              <a:rPr lang="en-US" b="1" dirty="0"/>
              <a:t>4. Withdraw</a:t>
            </a:r>
          </a:p>
          <a:p>
            <a:r>
              <a:rPr lang="en-US" dirty="0"/>
              <a:t>Users can withdraw money with balance validation.</a:t>
            </a:r>
          </a:p>
          <a:p>
            <a:pPr marL="0" indent="0">
              <a:buNone/>
            </a:pPr>
            <a:r>
              <a:rPr lang="en-US" b="1" dirty="0"/>
              <a:t>5. Loan Services</a:t>
            </a:r>
          </a:p>
          <a:p>
            <a:r>
              <a:rPr lang="en-US" dirty="0"/>
              <a:t>Apply loan with interest calculation</a:t>
            </a:r>
          </a:p>
          <a:p>
            <a:r>
              <a:rPr lang="en-US" dirty="0"/>
              <a:t>Repay loan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549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86124-2F0B-7034-7DFB-A8704278F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6. Mutual Fund Investment</a:t>
            </a:r>
          </a:p>
          <a:p>
            <a:r>
              <a:rPr lang="en-US" dirty="0"/>
              <a:t>Low Risk (6%)</a:t>
            </a:r>
          </a:p>
          <a:p>
            <a:r>
              <a:rPr lang="en-US" dirty="0"/>
              <a:t>Medium Risk (10%)</a:t>
            </a:r>
          </a:p>
          <a:p>
            <a:r>
              <a:rPr lang="en-US" dirty="0"/>
              <a:t>High Risk (15%)</a:t>
            </a:r>
          </a:p>
          <a:p>
            <a:r>
              <a:rPr lang="en-US" dirty="0"/>
              <a:t>Withdraw investment</a:t>
            </a:r>
          </a:p>
          <a:p>
            <a:pPr marL="0" indent="0">
              <a:buNone/>
            </a:pPr>
            <a:r>
              <a:rPr lang="en-US" b="1" dirty="0"/>
              <a:t>7. Transaction History</a:t>
            </a:r>
          </a:p>
          <a:p>
            <a:r>
              <a:rPr lang="en-US" dirty="0"/>
              <a:t>All transactions are recorded and displayed when requested.</a:t>
            </a:r>
          </a:p>
          <a:p>
            <a:pPr marL="0" indent="0">
              <a:buNone/>
            </a:pPr>
            <a:r>
              <a:rPr lang="en-US" b="1" dirty="0"/>
              <a:t>8. Admin Dashboard</a:t>
            </a:r>
          </a:p>
          <a:p>
            <a:r>
              <a:rPr lang="en-US" dirty="0"/>
              <a:t>Admin can view total accounts and account details.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7296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32854-DD85-3D92-2680-7A46BCA73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+mn-lt"/>
              </a:rPr>
              <a:t>C Programming Concepts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7F4B9-9CB5-7798-FEAE-970E9CE5D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Structures</a:t>
            </a:r>
          </a:p>
          <a:p>
            <a:r>
              <a:rPr lang="en-IN" dirty="0"/>
              <a:t>Arrays</a:t>
            </a:r>
          </a:p>
          <a:p>
            <a:r>
              <a:rPr lang="en-IN" dirty="0"/>
              <a:t>2D Arrays</a:t>
            </a:r>
          </a:p>
          <a:p>
            <a:r>
              <a:rPr lang="en-IN" dirty="0"/>
              <a:t>Functions</a:t>
            </a:r>
          </a:p>
          <a:p>
            <a:r>
              <a:rPr lang="en-IN" dirty="0"/>
              <a:t>Loops</a:t>
            </a:r>
          </a:p>
          <a:p>
            <a:r>
              <a:rPr lang="en-IN" dirty="0"/>
              <a:t>Conditional Statements</a:t>
            </a:r>
          </a:p>
          <a:p>
            <a:r>
              <a:rPr lang="en-IN" dirty="0"/>
              <a:t>String Handling</a:t>
            </a:r>
          </a:p>
          <a:p>
            <a:r>
              <a:rPr lang="en-IN" dirty="0"/>
              <a:t>XOR Encryption</a:t>
            </a:r>
          </a:p>
          <a:p>
            <a:r>
              <a:rPr lang="en-IN" dirty="0"/>
              <a:t>Menu-driven Programming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7588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FDC1A-F9B7-F3C2-5FE6-B079819B9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+mn-lt"/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87571-805F-960E-C773-4FE6BC0C1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Simple and user-friendly</a:t>
            </a:r>
          </a:p>
          <a:p>
            <a:r>
              <a:rPr lang="en-US" dirty="0"/>
              <a:t>Secure PIN handling</a:t>
            </a:r>
          </a:p>
          <a:p>
            <a:r>
              <a:rPr lang="en-US" dirty="0"/>
              <a:t>Tracks transaction history</a:t>
            </a:r>
          </a:p>
          <a:p>
            <a:r>
              <a:rPr lang="en-US" dirty="0"/>
              <a:t>Includes loan and investment features</a:t>
            </a:r>
          </a:p>
          <a:p>
            <a:r>
              <a:rPr lang="en-US" dirty="0"/>
              <a:t>Demonstrates practical C programming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5903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C2609-E9EF-2315-287D-BFDA9041E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+mn-lt"/>
              </a:rPr>
              <a:t>Limitations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C2047D5-30B9-E498-75E4-F6A40E04C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Data is not permanently stored</a:t>
            </a:r>
          </a:p>
          <a:p>
            <a:r>
              <a:rPr lang="en-US" dirty="0"/>
              <a:t>Basic encryption only</a:t>
            </a:r>
          </a:p>
          <a:p>
            <a:r>
              <a:rPr lang="en-US" dirty="0"/>
              <a:t>Console-based interface</a:t>
            </a:r>
          </a:p>
          <a:p>
            <a:r>
              <a:rPr lang="en-US" dirty="0"/>
              <a:t>Limited maximum accounts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83689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36255-BCC7-496A-472B-5A2AB17CC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+mn-lt"/>
              </a:rPr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1AEFB-D4F6-5F7C-867C-E807C458B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Add file handling for permanent storage</a:t>
            </a:r>
          </a:p>
          <a:p>
            <a:r>
              <a:rPr lang="en-US" dirty="0"/>
              <a:t>Implement advanced encryption</a:t>
            </a:r>
          </a:p>
          <a:p>
            <a:r>
              <a:rPr lang="en-US" dirty="0"/>
              <a:t>Develop GUI version</a:t>
            </a:r>
          </a:p>
          <a:p>
            <a:r>
              <a:rPr lang="en-US" dirty="0"/>
              <a:t>Add account deletion and update options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3515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F4019-6FE0-D7F4-5B6C-18FAF0365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Screenshots Of Output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ED2AC2-FF54-0FD3-B2B8-F7B3E71962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955" y="1887270"/>
            <a:ext cx="5440009" cy="3969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E6EA65-063E-A05B-BE09-3BAB610EED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5721" y="1887271"/>
            <a:ext cx="6140466" cy="396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951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B4DF4B-3DB0-832D-56F4-EA36E824F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503" y="1512065"/>
            <a:ext cx="5930746" cy="38338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55CF94-E137-ACE9-21F9-4EA0D535CD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1512065"/>
            <a:ext cx="5780182" cy="3833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380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7CB031-7D6C-E027-18AA-0833BE56A1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2496" y="1556132"/>
            <a:ext cx="5875664" cy="37457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6609B0-C315-43B6-D4C1-06BC9CD85E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40" y="1556132"/>
            <a:ext cx="5875665" cy="374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9515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B5CD20-E3ED-1753-FE82-EBCB0CA9C0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507" y="1693843"/>
            <a:ext cx="5765493" cy="34703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F9EB41-1DE2-2FFF-5FB5-BAF93D532C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699" y="1693842"/>
            <a:ext cx="5526794" cy="347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2809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5EF43-60A4-CF1F-D023-B16E92B57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+mn-lt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50866-AF1F-7C6C-B416-B81E24FE6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Banking Simulation System successfully demonstrates the practical implementation of C programming concepts in building a functional banking model. It integrates security, financial calculations, and transaction management into a structured and organized program. This project provides a strong foundation for understanding real-world banking software logic.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04270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22675-AA39-6CE7-6BB4-A685D9E4C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6600" b="1" dirty="0"/>
              <a:t>Thank You !!</a:t>
            </a:r>
          </a:p>
        </p:txBody>
      </p:sp>
    </p:spTree>
    <p:extLst>
      <p:ext uri="{BB962C8B-B14F-4D97-AF65-F5344CB8AC3E}">
        <p14:creationId xmlns:p14="http://schemas.microsoft.com/office/powerpoint/2010/main" val="190460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655</Words>
  <Application>Microsoft Office PowerPoint</Application>
  <PresentationFormat>Widescreen</PresentationFormat>
  <Paragraphs>165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Lato Heavy</vt:lpstr>
      <vt:lpstr>Office Theme</vt:lpstr>
      <vt:lpstr>PowerPoint Presentation</vt:lpstr>
      <vt:lpstr>PowerPoint Presentation</vt:lpstr>
      <vt:lpstr>Table Of Contents</vt:lpstr>
      <vt:lpstr>PowerPoint Presentation</vt:lpstr>
      <vt:lpstr>Abstract</vt:lpstr>
      <vt:lpstr>Introduction</vt:lpstr>
      <vt:lpstr>Problem Statement</vt:lpstr>
      <vt:lpstr>Objectives</vt:lpstr>
      <vt:lpstr>Technologies Used</vt:lpstr>
      <vt:lpstr>System Design</vt:lpstr>
      <vt:lpstr>Key Features</vt:lpstr>
      <vt:lpstr>PowerPoint Presentation</vt:lpstr>
      <vt:lpstr>C Programming Concepts Used</vt:lpstr>
      <vt:lpstr>Advantages</vt:lpstr>
      <vt:lpstr>Limitations</vt:lpstr>
      <vt:lpstr>Future Enhancements</vt:lpstr>
      <vt:lpstr>Screenshots Of Output</vt:lpstr>
      <vt:lpstr>PowerPoint Presentation</vt:lpstr>
      <vt:lpstr>PowerPoint Presentation</vt:lpstr>
      <vt:lpstr>PowerPoint Presentation</vt:lpstr>
      <vt:lpstr>Conclusion</vt:lpstr>
      <vt:lpstr>Thank You 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SHIVAM LAMKHADE</dc:creator>
  <cp:lastModifiedBy>SHIVAM LAMKHADE</cp:lastModifiedBy>
  <cp:revision>2</cp:revision>
  <dcterms:created xsi:type="dcterms:W3CDTF">2026-02-22T16:25:41Z</dcterms:created>
  <dcterms:modified xsi:type="dcterms:W3CDTF">2026-03-03T15:03:34Z</dcterms:modified>
</cp:coreProperties>
</file>